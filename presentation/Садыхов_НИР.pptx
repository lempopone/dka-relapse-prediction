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12192000" cy="6858000"/>
  <p:notesSz cx="6858000" cy="9144000"/>
  <p:embeddedFontLst>
    <p:embeddedFont>
      <p:font typeface="Golos Text" panose="020B0604020202020204" charset="0"/>
      <p:regular r:id="rId22"/>
      <p:bold r:id="rId23"/>
    </p:embeddedFont>
    <p:embeddedFont>
      <p:font typeface="Golos Text SemiBold" panose="020B0604020202020204" charset="0"/>
      <p:regular r:id="rId24"/>
      <p:bold r:id="rId25"/>
    </p:embeddedFont>
    <p:embeddedFont>
      <p:font typeface="Inconsolata" pitchFamily="1" charset="0"/>
      <p:regular r:id="rId26"/>
      <p:bold r:id="rId27"/>
    </p:embeddedFont>
    <p:embeddedFont>
      <p:font typeface="Inconsolata Black" pitchFamily="1" charset="0"/>
      <p:bold r:id="rId28"/>
    </p:embeddedFont>
    <p:embeddedFont>
      <p:font typeface="Inconsolata ExtraBold" pitchFamily="1" charset="0"/>
      <p:bold r:id="rId29"/>
    </p:embeddedFont>
    <p:embeddedFont>
      <p:font typeface="Inconsolata Medium" pitchFamily="1" charset="0"/>
      <p:regular r:id="rId30"/>
      <p:bold r:id="rId31"/>
    </p:embeddedFont>
    <p:embeddedFont>
      <p:font typeface="Inconsolata SemiBold" pitchFamily="1" charset="0"/>
      <p:regular r:id="rId32"/>
      <p:bold r:id="rId33"/>
    </p:embeddedFont>
    <p:embeddedFont>
      <p:font typeface="Montserrat" panose="00000500000000000000" pitchFamily="2" charset="-52"/>
      <p:regular r:id="rId34"/>
      <p:bold r:id="rId35"/>
      <p:italic r:id="rId36"/>
      <p:boldItalic r:id="rId37"/>
    </p:embeddedFont>
    <p:embeddedFont>
      <p:font typeface="Montserrat Black" panose="00000A00000000000000" pitchFamily="2" charset="-52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gsIjZeaNQbzcJH1yrOlBZRwub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D1142D-32B9-4ABA-A4C4-96738E0EE4D2}">
  <a:tblStyle styleId="{76D1142D-32B9-4ABA-A4C4-96738E0EE4D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F4DFCBA-257B-410C-A8EE-B23D9F96F7E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30c722ffd_4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" name="Google Shape;36;g3b30c722ffd_4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b86a7c5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39bb86a7c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C09D3E0-12BC-598E-2C19-53D4BC87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>
            <a:extLst>
              <a:ext uri="{FF2B5EF4-FFF2-40B4-BE49-F238E27FC236}">
                <a16:creationId xmlns:a16="http://schemas.microsoft.com/office/drawing/2014/main" id="{633763BF-F376-655E-31B0-948FBFF7D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14:notes">
            <a:extLst>
              <a:ext uri="{FF2B5EF4-FFF2-40B4-BE49-F238E27FC236}">
                <a16:creationId xmlns:a16="http://schemas.microsoft.com/office/drawing/2014/main" id="{8921A76E-EA84-2CEC-578C-C1FED947C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966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30c722ffd_42_129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3b30c722ffd_42_129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b30c722ffd_42_129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b30c722ffd_42_129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b30c722ffd_42_129"/>
          <p:cNvSpPr txBox="1">
            <a:spLocks noGrp="1"/>
          </p:cNvSpPr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Golos Text SemiBold"/>
              <a:buNone/>
              <a:defRPr sz="43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3b30c722ffd_42_129"/>
          <p:cNvSpPr txBox="1">
            <a:spLocks noGrp="1"/>
          </p:cNvSpPr>
          <p:nvPr>
            <p:ph type="body" idx="1"/>
          </p:nvPr>
        </p:nvSpPr>
        <p:spPr>
          <a:xfrm>
            <a:off x="609599" y="1386883"/>
            <a:ext cx="11185500" cy="4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marL="2743200" lvl="5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2153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Финальны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/>
        </p:nvSpPr>
        <p:spPr>
          <a:xfrm>
            <a:off x="1981200" y="22590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os Text SemiBold"/>
              <a:buNone/>
            </a:pPr>
            <a: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</a:t>
            </a:r>
            <a:b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lang="ru-RU" sz="6000" b="1" i="0" u="none" strike="noStrik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за внимание!</a:t>
            </a:r>
            <a:endParaRPr sz="6000" b="1" i="0" u="none" strike="noStrike" cap="non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ctrTitle"/>
          </p:nvPr>
        </p:nvSpPr>
        <p:spPr>
          <a:xfrm>
            <a:off x="1524000" y="2490281"/>
            <a:ext cx="9144000" cy="14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ubTitle" idx="1"/>
          </p:nvPr>
        </p:nvSpPr>
        <p:spPr>
          <a:xfrm>
            <a:off x="5805890" y="4175394"/>
            <a:ext cx="5871990" cy="227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17"/>
          <p:cNvSpPr txBox="1"/>
          <p:nvPr/>
        </p:nvSpPr>
        <p:spPr>
          <a:xfrm>
            <a:off x="1524000" y="12308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los Text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01.04.02 </a:t>
            </a:r>
            <a:r>
              <a:rPr lang="ru-RU" sz="1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Прикладная математика и информатика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30c722ffd_42_136"/>
          <p:cNvSpPr txBox="1"/>
          <p:nvPr/>
        </p:nvSpPr>
        <p:spPr>
          <a:xfrm>
            <a:off x="1535833" y="692400"/>
            <a:ext cx="94413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ИИ в промышленности</a:t>
            </a:r>
            <a:endParaRPr sz="2400" b="1" i="0" u="none" strike="noStrike" cap="non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g3b30c722ffd_42_136"/>
          <p:cNvSpPr txBox="1">
            <a:spLocks noGrp="1"/>
          </p:cNvSpPr>
          <p:nvPr>
            <p:ph type="body" idx="1"/>
          </p:nvPr>
        </p:nvSpPr>
        <p:spPr>
          <a:xfrm>
            <a:off x="6163056" y="5248656"/>
            <a:ext cx="5946648" cy="134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Студент: </a:t>
            </a:r>
            <a:br>
              <a:rPr lang="ru-RU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Садыхов Олег Бахадурович, гр. J4151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Научный руководитель: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Леоненко Василий Николаевич, к. ф.-м. н., доцент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6666"/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g3b30c722ffd_42_136"/>
          <p:cNvSpPr txBox="1">
            <a:spLocks noGrp="1"/>
          </p:cNvSpPr>
          <p:nvPr>
            <p:ph type="title"/>
          </p:nvPr>
        </p:nvSpPr>
        <p:spPr>
          <a:xfrm>
            <a:off x="1524000" y="2782889"/>
            <a:ext cx="91440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</a:pPr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Прогнозирование рецидива диабетического кетоацидоза</a:t>
            </a:r>
            <a:endParaRPr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Постановка проблемы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6" name="Google Shape;46;p2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28175" y="1496952"/>
            <a:ext cx="108981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151617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Диабетический кетоацидоз (ДКА) — острое, угрожающее жизни метаболическое осложнение сахарного диабета. Рецидивы ДКА — ключевой индикатор, приводящий к тяжелым нарушениям функциональной способности организма. Существующие клинические рекомендации основаны на небольшом числе известных факторов риска (например, содержание HbA1c), но их способность прогнозировать рецидив часто недостаточна. Недавние исследования [1-7] в области прогнозирования DKA с применением машинного обучения указывают на распространенную проблему "черного ящика", то есть отсутствие понимания глубинных причин их прогнозов, что подрывает доверие врачей.</a:t>
            </a:r>
            <a:endParaRPr sz="1800" b="1" i="0" u="none" strike="noStrike" cap="none" dirty="0">
              <a:solidFill>
                <a:srgbClr val="000000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Цель и задачи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3" name="Google Shape;53;p3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44429" y="1197692"/>
            <a:ext cx="11887200" cy="206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200" b="1" i="0" u="none" strike="noStrike" cap="none" dirty="0">
                <a:solidFill>
                  <a:srgbClr val="151617"/>
                </a:solidFill>
                <a:latin typeface="Inconsolata Black"/>
                <a:ea typeface="Inconsolata Black"/>
                <a:cs typeface="Inconsolata Black"/>
                <a:sym typeface="Inconsolata Black"/>
              </a:rPr>
              <a:t>Цель исследования: Разработка интерпретируемой модели, объясняющей ключевые факторы риска, для задачи прогнозирования рецидива ДКА для российской клинической практики.</a:t>
            </a:r>
          </a:p>
          <a:p>
            <a:pPr>
              <a:lnSpc>
                <a:spcPct val="150000"/>
              </a:lnSpc>
              <a:buSzPts val="2000"/>
            </a:pPr>
            <a:r>
              <a:rPr lang="ru-RU" sz="2200" b="1" dirty="0">
                <a:solidFill>
                  <a:srgbClr val="151617"/>
                </a:solidFill>
                <a:latin typeface="Inconsolata Black"/>
                <a:ea typeface="Inconsolata Black"/>
                <a:cs typeface="Inconsolata Black"/>
                <a:sym typeface="Inconsolata Black"/>
              </a:rPr>
              <a:t>Задачи:</a:t>
            </a:r>
            <a:endParaRPr lang="ru-RU" sz="2200" b="1" dirty="0">
              <a:latin typeface="Inconsolata"/>
              <a:ea typeface="Inconsolata"/>
              <a:cs typeface="Inconsolata"/>
              <a:sym typeface="Inconsolat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200" i="0" u="none" strike="noStrike" cap="none" dirty="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421532" y="3119458"/>
            <a:ext cx="112260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500" b="1" i="0" u="none" strike="noStrike" cap="none" dirty="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Систематический обзор современных научных публикаций по применению методов машинного обучения для прогнозирования ДКА и его факторов риска.</a:t>
            </a:r>
            <a:endParaRPr sz="1500" dirty="0"/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500" b="1" i="0" u="none" strike="noStrike" cap="none" dirty="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Предобработка и анализ реальных клинических данных пациентов.</a:t>
            </a:r>
            <a:endParaRPr sz="1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500" b="1" i="0" u="none" strike="noStrike" cap="none" dirty="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Удаление аномалий, масштабирование данных.</a:t>
            </a:r>
            <a:endParaRPr sz="1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500" b="1" i="0" u="none" strike="noStrike" cap="none" dirty="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Сравнение эффективности различных алгоритмов машинного обучения на подготовленных данных.</a:t>
            </a:r>
            <a:endParaRPr sz="1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500" b="1" i="0" u="none" strike="noStrike" cap="none" dirty="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Отбор ключевых признаков, в частности проведение SHAP-анализа.</a:t>
            </a:r>
            <a:endParaRPr sz="1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500" b="1" i="0" u="none" strike="noStrike" cap="none" dirty="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Сравнение итоговой интерпретируемой модели по комплексу метрик (ROC-AUC, F1-score, Precision, </a:t>
            </a:r>
            <a:r>
              <a:rPr lang="ru-RU" sz="1500" b="1" i="0" u="none" strike="noStrike" cap="none" dirty="0" err="1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Recall</a:t>
            </a:r>
            <a:r>
              <a:rPr lang="ru-RU" sz="1500" b="1" i="0" u="none" strike="noStrike" cap="none" dirty="0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).</a:t>
            </a:r>
            <a:endParaRPr sz="1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bb86a7c59_0_0"/>
          <p:cNvSpPr txBox="1">
            <a:spLocks noGrp="1"/>
          </p:cNvSpPr>
          <p:nvPr>
            <p:ph type="title"/>
          </p:nvPr>
        </p:nvSpPr>
        <p:spPr>
          <a:xfrm>
            <a:off x="421531" y="365126"/>
            <a:ext cx="10130163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Обзор аналогичных решений/исследований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2" name="Google Shape;62;g39bb86a7c59_0_0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63" name="Google Shape;63;g39bb86a7c59_0_0"/>
          <p:cNvSpPr txBox="1">
            <a:spLocks noGrp="1"/>
          </p:cNvSpPr>
          <p:nvPr>
            <p:ph type="body" idx="1"/>
          </p:nvPr>
        </p:nvSpPr>
        <p:spPr>
          <a:xfrm>
            <a:off x="713270" y="4989633"/>
            <a:ext cx="10424100" cy="13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40"/>
              <a:buFont typeface="Arial"/>
              <a:buNone/>
            </a:pPr>
            <a:r>
              <a:rPr lang="ru-RU" sz="1417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Вывод: Существующие решения подтверждают эффективность ML для прогнозирования ДКА, но имеют существенные ограничения: недостаток интерпретируемости моделей, ограниченные наборы признаков и отсутствие исследования на российской популяции. Наша работа направлена на создание интерпретируемой модели, учитывающей эти особенности.</a:t>
            </a:r>
            <a:br>
              <a:rPr lang="ru-RU" sz="1417" dirty="0">
                <a:latin typeface="Inconsolata SemiBold"/>
                <a:ea typeface="Inconsolata SemiBold"/>
                <a:cs typeface="Inconsolata SemiBold"/>
                <a:sym typeface="Inconsolata SemiBold"/>
              </a:rPr>
            </a:br>
            <a:endParaRPr sz="1417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graphicFrame>
        <p:nvGraphicFramePr>
          <p:cNvPr id="64" name="Google Shape;64;g39bb86a7c59_0_0"/>
          <p:cNvGraphicFramePr/>
          <p:nvPr>
            <p:extLst>
              <p:ext uri="{D42A27DB-BD31-4B8C-83A1-F6EECF244321}">
                <p14:modId xmlns:p14="http://schemas.microsoft.com/office/powerpoint/2010/main" val="523976540"/>
              </p:ext>
            </p:extLst>
          </p:nvPr>
        </p:nvGraphicFramePr>
        <p:xfrm>
          <a:off x="672099" y="1284302"/>
          <a:ext cx="10506450" cy="3442555"/>
        </p:xfrm>
        <a:graphic>
          <a:graphicData uri="http://schemas.openxmlformats.org/drawingml/2006/table">
            <a:tbl>
              <a:tblPr firstRow="1" bandRow="1">
                <a:noFill/>
                <a:tableStyleId>{76D1142D-32B9-4ABA-A4C4-96738E0EE4D2}</a:tableStyleId>
              </a:tblPr>
              <a:tblGrid>
                <a:gridCol w="33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strike="noStrike" cap="none"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Источник</a:t>
                      </a:r>
                      <a:endParaRPr sz="1200"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strike="noStrike" cap="none"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Решения</a:t>
                      </a:r>
                      <a:endParaRPr sz="1200"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strike="noStrike" cap="none"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Недостатки</a:t>
                      </a:r>
                      <a:endParaRPr sz="1200"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Ihalapathirana A. et al., 2023</a:t>
                      </a:r>
                      <a:endParaRPr sz="12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Применены бустинговые алгоритмы, отбор признаков методом </a:t>
                      </a:r>
                      <a:r>
                        <a:rPr lang="ru-RU" sz="1200" b="1" u="none" strike="noStrike" cap="none" dirty="0" err="1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ReliefF</a:t>
                      </a:r>
                      <a:r>
                        <a:rPr lang="ru-RU" sz="12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, стратификация по полу.</a:t>
                      </a:r>
                      <a:endParaRPr sz="12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Ограничение набора данных - рассматриваются только взрослые пациенты с 1 типом диабета.</a:t>
                      </a:r>
                      <a:endParaRPr sz="12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b="1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Williams D. D. et al., 2023</a:t>
                      </a:r>
                      <a:endParaRPr sz="12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Разработана и протестирована модель глубокого обучения типа LSTM для прогнозирования риска госпитализации по поводу ДКА у молодежи.</a:t>
                      </a:r>
                      <a:endParaRPr sz="12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Отсутствие SHAP/XAI анализа.</a:t>
                      </a:r>
                      <a:endParaRPr sz="12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 err="1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Eid</a:t>
                      </a:r>
                      <a:r>
                        <a:rPr lang="ru-RU" sz="1200" b="1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 W. M. </a:t>
                      </a:r>
                      <a:r>
                        <a:rPr lang="ru-RU" sz="1200" b="1" dirty="0" err="1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et</a:t>
                      </a:r>
                      <a:r>
                        <a:rPr lang="ru-RU" sz="1200" b="1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 </a:t>
                      </a:r>
                      <a:r>
                        <a:rPr lang="ru-RU" sz="1200" b="1" dirty="0" err="1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al</a:t>
                      </a:r>
                      <a:r>
                        <a:rPr lang="ru-RU" sz="1200" b="1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., 2023</a:t>
                      </a:r>
                      <a:endParaRPr sz="12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Подтверждение эффективности классических алгоритмов ML на структурированных данных.</a:t>
                      </a:r>
                      <a:endParaRPr sz="12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Ограниченный набор признаков.</a:t>
                      </a:r>
                      <a:endParaRPr sz="12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Методы и инструменты исследования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263900" y="2019100"/>
            <a:ext cx="7842300" cy="5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Методы: машинное обучение, анализ данных, интерпретация моделей.</a:t>
            </a:r>
            <a:endParaRPr sz="18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</a:b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Инструменты: Python, Google </a:t>
            </a:r>
            <a:r>
              <a:rPr lang="ru-RU" sz="1800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Colab</a:t>
            </a: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, </a:t>
            </a:r>
            <a:r>
              <a:rPr lang="ru-RU" sz="1800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Pandas</a:t>
            </a: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, </a:t>
            </a:r>
            <a:r>
              <a:rPr lang="ru-RU" sz="1800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NumPy</a:t>
            </a: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, </a:t>
            </a:r>
            <a:r>
              <a:rPr lang="ru-RU" sz="1800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Scikit-learn</a:t>
            </a: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, CatBoost, XGBoost, SHAP, Matplotlib, </a:t>
            </a:r>
            <a:r>
              <a:rPr lang="ru-RU" sz="1800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Seaborn</a:t>
            </a: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</a:t>
            </a:r>
            <a:endParaRPr sz="18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8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Данные: Анонимизированный клинический датасет пациентов с ДКА, предоставленный одной из больниц Санкт-Петербурга.</a:t>
            </a:r>
            <a:endParaRPr sz="18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203" y="1173754"/>
            <a:ext cx="3349800" cy="5024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Научная новизна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8" name="Google Shape;78;p6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171900" y="2179725"/>
            <a:ext cx="8359452" cy="4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50"/>
              <a:buNone/>
            </a:pP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Впервые предложен комплексный метод анализа клинических данных для прогнозирования рецидива ДКА в России, позволяющий учитывать и ранжировать вклад широкого спектра признаков с помощью методов XAI (SHAP).</a:t>
            </a:r>
            <a:endParaRPr sz="18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50"/>
              <a:buNone/>
            </a:pPr>
            <a:endParaRPr sz="18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50"/>
              <a:buNone/>
            </a:pP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Результаты исследования выявляют основные факторы риска рецидива ДКА в российской популяции. Это может помочь в создании моделей, учитывающих индивидуальные особенности пациентов с целью преждевременного обнаружения рецидива ДКА.</a:t>
            </a:r>
            <a:endParaRPr sz="18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80" name="Google Shape;8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7300" y="1293679"/>
            <a:ext cx="3189900" cy="4784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Ход решения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0675" y="1488601"/>
            <a:ext cx="5560325" cy="43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421525" y="1670550"/>
            <a:ext cx="5379600" cy="421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Сбор и подготовка данных</a:t>
            </a:r>
            <a:endParaRPr sz="2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179999" lvl="1" indent="-21272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consolata Medium"/>
              <a:buChar char="•"/>
            </a:pPr>
            <a:r>
              <a:rPr lang="ru-RU" sz="1700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Использован реальный клинический датасет</a:t>
            </a:r>
            <a:endParaRPr sz="17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21272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consolata Medium"/>
              <a:buChar char="•"/>
            </a:pPr>
            <a:r>
              <a:rPr lang="ru-RU" sz="1700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Собрана первичная база данных пациентов с эпизодами ДКА (195 человек)</a:t>
            </a:r>
            <a:endParaRPr sz="17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21272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consolata Medium"/>
              <a:buChar char="•"/>
            </a:pPr>
            <a:r>
              <a:rPr lang="ru-RU" sz="1700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Проведен разведочный анализ данных для оценки качества, распределения признаков.</a:t>
            </a:r>
            <a:endParaRPr sz="17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21272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consolata Medium"/>
              <a:buChar char="•"/>
            </a:pPr>
            <a:r>
              <a:rPr lang="ru-RU" sz="1700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Удалены квазиконстантные и неинформативные признаки</a:t>
            </a:r>
            <a:endParaRPr sz="17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21272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consolata Medium"/>
              <a:buChar char="•"/>
            </a:pPr>
            <a:r>
              <a:rPr lang="ru-RU" sz="1700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Удалены аномальные данные</a:t>
            </a:r>
            <a:endParaRPr sz="17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023325" y="1488601"/>
            <a:ext cx="6011175" cy="43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249974" y="1670550"/>
            <a:ext cx="5784525" cy="3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Отбор признаков</a:t>
            </a:r>
            <a:endParaRPr sz="2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89999" marR="0" lvl="1" indent="-2123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consolata Medium"/>
              <a:buChar char="•"/>
            </a:pPr>
            <a:r>
              <a:rPr lang="ru-RU" sz="1700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Выполнена предварительная фильтрация признаков: удалены колонки с применением жадного алгоритма</a:t>
            </a:r>
            <a:endParaRPr sz="17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89999" marR="0" lvl="1" indent="-2123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consolata Medium"/>
              <a:buChar char="•"/>
            </a:pPr>
            <a:r>
              <a:rPr lang="ru-RU" sz="1700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Проведен экспертный отбор признаков совместно с врачами-эндокринологами для формирования финального набора переменных, имеющих клиническую интерпретацию и релевантность для прогноза рецидива ДКА</a:t>
            </a:r>
            <a:endParaRPr sz="17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>
                <a:latin typeface="Montserrat Black"/>
                <a:ea typeface="Montserrat Black"/>
                <a:cs typeface="Montserrat Black"/>
                <a:sym typeface="Montserrat Black"/>
              </a:rPr>
              <a:t>Ход решения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6" name="Google Shape;96;p9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pic>
        <p:nvPicPr>
          <p:cNvPr id="97" name="Google Shape;9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7896" y="1159971"/>
            <a:ext cx="4811427" cy="519013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/>
        </p:nvSpPr>
        <p:spPr>
          <a:xfrm>
            <a:off x="495823" y="1159971"/>
            <a:ext cx="4563500" cy="4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Предварительное обучение модели</a:t>
            </a:r>
            <a:endParaRPr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179999" lvl="1" indent="-19367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Использованы архитектуры ML (CatBoost, XGBoost, Случайный лес, Логистическая регрессия)</a:t>
            </a:r>
            <a:endParaRPr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19367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Данные разделены на 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train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и 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test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80/20</a:t>
            </a:r>
            <a:endParaRPr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19367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Проведена кросс валидация на 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train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для 4 фолдов</a:t>
            </a:r>
            <a:endParaRPr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19367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Для оценки стабильности моделей проведена технология 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бутстрепа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с последующим расчетом доверительных интервалов ROC-AUC.</a:t>
            </a:r>
            <a:endParaRPr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179999" lvl="1" indent="-193675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SemiBold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На данном этапе модели обучены без углубленного подбора гиперпараметров для получения 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baseline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-оценки их прогнозной способности.</a:t>
            </a:r>
            <a:r>
              <a:rPr lang="ru-RU" b="1" dirty="0">
                <a:solidFill>
                  <a:schemeClr val="dk1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endParaRPr b="1" dirty="0">
              <a:solidFill>
                <a:schemeClr val="dk1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99" name="Google Shape;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70235" y="1159973"/>
            <a:ext cx="3528852" cy="5190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809999" y="1160675"/>
            <a:ext cx="2888825" cy="519013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 txBox="1"/>
          <p:nvPr/>
        </p:nvSpPr>
        <p:spPr>
          <a:xfrm>
            <a:off x="5307251" y="1159971"/>
            <a:ext cx="3303600" cy="46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Исследование разделено на два подхода для анализа влияния анамнеза</a:t>
            </a:r>
            <a:endParaRPr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С учетом количества ДКА в анамнезе.</a:t>
            </a:r>
            <a:endParaRPr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Без учета количества ДКА в анамнезе.</a:t>
            </a:r>
            <a:endParaRPr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8920911" y="1159971"/>
            <a:ext cx="2667000" cy="4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Оценка качества</a:t>
            </a:r>
            <a:endParaRPr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AUC</a:t>
            </a:r>
            <a:endParaRPr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 Medium"/>
              <a:buChar char="•"/>
            </a:pP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Classification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report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(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precision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, 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recall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, f1-score, </a:t>
            </a:r>
            <a:r>
              <a:rPr lang="ru-RU" b="1" dirty="0" err="1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accuracy</a:t>
            </a:r>
            <a:r>
              <a:rPr lang="ru-RU" b="1" dirty="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)</a:t>
            </a:r>
            <a:endParaRPr sz="800" b="1" dirty="0">
              <a:solidFill>
                <a:schemeClr val="dk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Ход решения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8" name="Google Shape;108;p4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422275" y="1353200"/>
            <a:ext cx="11348100" cy="48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4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Предварительная точность моделей на кросс-валидации:</a:t>
            </a:r>
            <a:endParaRPr sz="24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4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	</a:t>
            </a:r>
            <a:endParaRPr sz="24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4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1. Вариант с ДКА в анамнезе	  2. Вариант без ДКА в анамнезе</a:t>
            </a:r>
            <a:endParaRPr sz="24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br>
              <a:rPr lang="ru-RU" sz="2400" dirty="0">
                <a:latin typeface="Inconsolata ExtraBold"/>
                <a:ea typeface="Inconsolata ExtraBold"/>
                <a:cs typeface="Inconsolata ExtraBold"/>
                <a:sym typeface="Inconsolata ExtraBold"/>
              </a:rPr>
            </a:br>
            <a:endParaRPr sz="2400" dirty="0">
              <a:latin typeface="Inconsolata ExtraBold"/>
              <a:ea typeface="Inconsolata ExtraBold"/>
              <a:cs typeface="Inconsolata ExtraBold"/>
              <a:sym typeface="Inconsolata ExtraBold"/>
            </a:endParaRPr>
          </a:p>
        </p:txBody>
      </p:sp>
      <p:graphicFrame>
        <p:nvGraphicFramePr>
          <p:cNvPr id="110" name="Google Shape;110;p4"/>
          <p:cNvGraphicFramePr/>
          <p:nvPr>
            <p:extLst>
              <p:ext uri="{D42A27DB-BD31-4B8C-83A1-F6EECF244321}">
                <p14:modId xmlns:p14="http://schemas.microsoft.com/office/powerpoint/2010/main" val="944505887"/>
              </p:ext>
            </p:extLst>
          </p:nvPr>
        </p:nvGraphicFramePr>
        <p:xfrm>
          <a:off x="421532" y="2954456"/>
          <a:ext cx="5184000" cy="3152036"/>
        </p:xfrm>
        <a:graphic>
          <a:graphicData uri="http://schemas.openxmlformats.org/drawingml/2006/table">
            <a:tbl>
              <a:tblPr firstRow="1" bandRow="1">
                <a:noFill/>
                <a:tableStyleId>{76D1142D-32B9-4ABA-A4C4-96738E0EE4D2}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CV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AUC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F1-score для 1 класса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Accuracy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CatBoost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0.931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0.89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0.92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XGBoost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0.930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0.85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0.89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Random Forest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0.920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0.82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0.88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Logistic regression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0.921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0.81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0.87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1" name="Google Shape;111;p4"/>
          <p:cNvGraphicFramePr/>
          <p:nvPr>
            <p:extLst>
              <p:ext uri="{D42A27DB-BD31-4B8C-83A1-F6EECF244321}">
                <p14:modId xmlns:p14="http://schemas.microsoft.com/office/powerpoint/2010/main" val="1495441972"/>
              </p:ext>
            </p:extLst>
          </p:nvPr>
        </p:nvGraphicFramePr>
        <p:xfrm>
          <a:off x="6198616" y="2954456"/>
          <a:ext cx="5184000" cy="3154566"/>
        </p:xfrm>
        <a:graphic>
          <a:graphicData uri="http://schemas.openxmlformats.org/drawingml/2006/table">
            <a:tbl>
              <a:tblPr firstRow="1" bandRow="1">
                <a:noFill/>
                <a:tableStyleId>{76D1142D-32B9-4ABA-A4C4-96738E0EE4D2}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3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CV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AUC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F1-score для 1 класса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Accuracy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2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CatBoost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0.737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0.49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0.71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2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XGBoost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0.597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0.34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0.60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9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Random Forest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0.731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0.29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0.68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9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Logistic regression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0.688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0.45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0.64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Ход решения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7" name="Google Shape;117;p7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422275" y="1353200"/>
            <a:ext cx="11348100" cy="48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4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Предварительная точность моделей на тесте:</a:t>
            </a:r>
            <a:endParaRPr sz="24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4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	</a:t>
            </a:r>
            <a:endParaRPr sz="24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4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1. Вариант с ДКА в анамнезе	  2. Вариант без ДКА в анамнезе</a:t>
            </a:r>
            <a:endParaRPr sz="24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br>
              <a:rPr lang="ru-RU" sz="2400" dirty="0">
                <a:latin typeface="Inconsolata SemiBold"/>
                <a:ea typeface="Inconsolata SemiBold"/>
                <a:cs typeface="Inconsolata SemiBold"/>
                <a:sym typeface="Inconsolata SemiBold"/>
              </a:rPr>
            </a:br>
            <a:endParaRPr sz="2400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graphicFrame>
        <p:nvGraphicFramePr>
          <p:cNvPr id="119" name="Google Shape;119;p7"/>
          <p:cNvGraphicFramePr/>
          <p:nvPr>
            <p:extLst>
              <p:ext uri="{D42A27DB-BD31-4B8C-83A1-F6EECF244321}">
                <p14:modId xmlns:p14="http://schemas.microsoft.com/office/powerpoint/2010/main" val="3997481103"/>
              </p:ext>
            </p:extLst>
          </p:nvPr>
        </p:nvGraphicFramePr>
        <p:xfrm>
          <a:off x="421532" y="2958380"/>
          <a:ext cx="5184000" cy="3152036"/>
        </p:xfrm>
        <a:graphic>
          <a:graphicData uri="http://schemas.openxmlformats.org/drawingml/2006/table">
            <a:tbl>
              <a:tblPr firstRow="1" bandRow="1">
                <a:noFill/>
                <a:tableStyleId>{76D1142D-32B9-4ABA-A4C4-96738E0EE4D2}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TEST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AUC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F1-score для 1 класса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Accuracy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CatBoost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0.993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0.92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0.94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XGBoost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0.970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0.92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0.94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Random Forest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0.997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0.92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0.94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Logistic regression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0.980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0.78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0.86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0" name="Google Shape;120;p7"/>
          <p:cNvGraphicFramePr/>
          <p:nvPr>
            <p:extLst>
              <p:ext uri="{D42A27DB-BD31-4B8C-83A1-F6EECF244321}">
                <p14:modId xmlns:p14="http://schemas.microsoft.com/office/powerpoint/2010/main" val="374749605"/>
              </p:ext>
            </p:extLst>
          </p:nvPr>
        </p:nvGraphicFramePr>
        <p:xfrm>
          <a:off x="6198616" y="2958380"/>
          <a:ext cx="5184000" cy="3152036"/>
        </p:xfrm>
        <a:graphic>
          <a:graphicData uri="http://schemas.openxmlformats.org/drawingml/2006/table">
            <a:tbl>
              <a:tblPr firstRow="1" bandRow="1">
                <a:noFill/>
                <a:tableStyleId>{76D1142D-32B9-4ABA-A4C4-96738E0EE4D2}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TEST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AUC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F1-score для 1 класса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Accuracy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CatBoost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0.836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0.53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0.75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XGBoost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0.729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0.43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0.64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Random Forest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0.826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0.38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0.72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Logistic regression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0.742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0.55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0.72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Ход решения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234696" y="1384407"/>
            <a:ext cx="11722608" cy="48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Для рассмотрения второго варианта работы проведен подбор гиперпараметров методом </a:t>
            </a:r>
            <a:r>
              <a:rPr lang="ru-RU" sz="2200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GridSearchCV</a:t>
            </a: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для четырёх моделей и отбор признаков с использованием жадного алгоритма с последующим согласованием с экспертами-эндокринологами.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Наилучший результат показала модель случайного леса.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graphicFrame>
        <p:nvGraphicFramePr>
          <p:cNvPr id="128" name="Google Shape;128;p20"/>
          <p:cNvGraphicFramePr/>
          <p:nvPr>
            <p:extLst>
              <p:ext uri="{D42A27DB-BD31-4B8C-83A1-F6EECF244321}">
                <p14:modId xmlns:p14="http://schemas.microsoft.com/office/powerpoint/2010/main" val="2268720079"/>
              </p:ext>
            </p:extLst>
          </p:nvPr>
        </p:nvGraphicFramePr>
        <p:xfrm>
          <a:off x="3504000" y="3524543"/>
          <a:ext cx="5184000" cy="1381844"/>
        </p:xfrm>
        <a:graphic>
          <a:graphicData uri="http://schemas.openxmlformats.org/drawingml/2006/table">
            <a:tbl>
              <a:tblPr firstRow="1" bandRow="1">
                <a:noFill/>
                <a:tableStyleId>{76D1142D-32B9-4ABA-A4C4-96738E0EE4D2}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TEST</a:t>
                      </a:r>
                      <a:endParaRPr sz="1400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AUC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F1-score для 1 класса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Accuracy</a:t>
                      </a:r>
                      <a:endParaRPr sz="1400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Random Forest</a:t>
                      </a:r>
                      <a:endParaRPr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0.829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0.64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0.78</a:t>
                      </a:r>
                      <a:endParaRPr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Ход решения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4" name="Google Shape;134;p21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422275" y="1203863"/>
            <a:ext cx="113481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В каждом из вариантов проведен SHAP-анализ для лучших моделей для определения ключевых признаков, на которые ссылается модель при прогнозировании первого класса таргета: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	1 Вариант						2 Вариант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sz="2200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sz="2200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14" y="3429000"/>
            <a:ext cx="5373861" cy="2512280"/>
          </a:xfrm>
          <a:prstGeom prst="rect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7" name="Google Shape;13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2771" y="3429000"/>
            <a:ext cx="6228900" cy="2512200"/>
          </a:xfrm>
          <a:prstGeom prst="rect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b="1">
                <a:latin typeface="Montserrat Black"/>
                <a:ea typeface="Montserrat Black"/>
                <a:cs typeface="Montserrat Black"/>
                <a:sym typeface="Montserrat Black"/>
              </a:rPr>
              <a:t>Основные результаты:</a:t>
            </a:r>
            <a:endParaRPr b="1">
              <a:highlight>
                <a:srgbClr val="FFFF00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43" name="Google Shape;143;p11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 b="1"/>
              <a:t>13</a:t>
            </a:fld>
            <a:endParaRPr b="1"/>
          </a:p>
        </p:txBody>
      </p:sp>
      <p:sp>
        <p:nvSpPr>
          <p:cNvPr id="144" name="Google Shape;144;p11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6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</a:pPr>
            <a:r>
              <a:rPr lang="ru-RU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GIT REPOSITORY: </a:t>
            </a:r>
            <a:r>
              <a:rPr lang="en-US" sz="18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https://github.com/Lempopone/dka-relapse-prediction.git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graphicFrame>
        <p:nvGraphicFramePr>
          <p:cNvPr id="145" name="Google Shape;145;p11"/>
          <p:cNvGraphicFramePr/>
          <p:nvPr>
            <p:extLst>
              <p:ext uri="{D42A27DB-BD31-4B8C-83A1-F6EECF244321}">
                <p14:modId xmlns:p14="http://schemas.microsoft.com/office/powerpoint/2010/main" val="4003732165"/>
              </p:ext>
            </p:extLst>
          </p:nvPr>
        </p:nvGraphicFramePr>
        <p:xfrm>
          <a:off x="673768" y="1784281"/>
          <a:ext cx="10401750" cy="1508490"/>
        </p:xfrm>
        <a:graphic>
          <a:graphicData uri="http://schemas.openxmlformats.org/drawingml/2006/table">
            <a:tbl>
              <a:tblPr firstRow="1" bandRow="1">
                <a:noFill/>
                <a:tableStyleId>{BF4DFCBA-257B-410C-A8EE-B23D9F96F7EF}</a:tableStyleId>
              </a:tblPr>
              <a:tblGrid>
                <a:gridCol w="520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1 вариант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2 вариант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Accuracy на тестовой выборке: 94%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Accuracy на тестовой выборке: 78%</a:t>
                      </a:r>
                      <a:endParaRPr sz="18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AUC: 0.997</a:t>
                      </a:r>
                      <a:endParaRPr b="1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AUC: 0.829</a:t>
                      </a:r>
                      <a:endParaRPr b="1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" name="Google Shape;146;p11"/>
          <p:cNvSpPr txBox="1"/>
          <p:nvPr/>
        </p:nvSpPr>
        <p:spPr>
          <a:xfrm>
            <a:off x="1206950" y="3503953"/>
            <a:ext cx="45939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ru-RU" sz="1800" b="1" i="0" u="none" strike="noStrike" cap="none">
                <a:solidFill>
                  <a:schemeClr val="dk1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Топ 5 признаков по важности SHAP</a:t>
            </a:r>
            <a:endParaRPr sz="1800" b="1" i="0" u="none" strike="noStrike" cap="none">
              <a:solidFill>
                <a:schemeClr val="dk1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graphicFrame>
        <p:nvGraphicFramePr>
          <p:cNvPr id="147" name="Google Shape;147;p11"/>
          <p:cNvGraphicFramePr/>
          <p:nvPr>
            <p:extLst>
              <p:ext uri="{D42A27DB-BD31-4B8C-83A1-F6EECF244321}">
                <p14:modId xmlns:p14="http://schemas.microsoft.com/office/powerpoint/2010/main" val="657428240"/>
              </p:ext>
            </p:extLst>
          </p:nvPr>
        </p:nvGraphicFramePr>
        <p:xfrm>
          <a:off x="5874618" y="4004206"/>
          <a:ext cx="5200900" cy="2566045"/>
        </p:xfrm>
        <a:graphic>
          <a:graphicData uri="http://schemas.openxmlformats.org/drawingml/2006/table">
            <a:tbl>
              <a:tblPr firstRow="1" bandRow="1">
                <a:noFill/>
                <a:tableStyleId>{BF4DFCBA-257B-410C-A8EE-B23D9F96F7EF}</a:tableStyleId>
              </a:tblPr>
              <a:tblGrid>
                <a:gridCol w="2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Суточная доза инсулина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0.063852</a:t>
                      </a:r>
                      <a:endParaRPr sz="18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Вид инсулинотерапии</a:t>
                      </a: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0.034719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ЛПВП</a:t>
                      </a:r>
                      <a:endParaRPr sz="14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0.023290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Глюкоза </a:t>
                      </a:r>
                      <a:r>
                        <a:rPr lang="ru-RU" sz="14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при поступлении</a:t>
                      </a:r>
                      <a:endParaRPr b="1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0.030826</a:t>
                      </a:r>
                      <a:endParaRPr b="1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HbA1c</a:t>
                      </a:r>
                      <a:endParaRPr sz="14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0.029524</a:t>
                      </a:r>
                      <a:endParaRPr b="1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8" name="Google Shape;148;p11"/>
          <p:cNvGraphicFramePr/>
          <p:nvPr>
            <p:extLst>
              <p:ext uri="{D42A27DB-BD31-4B8C-83A1-F6EECF244321}">
                <p14:modId xmlns:p14="http://schemas.microsoft.com/office/powerpoint/2010/main" val="1892071863"/>
              </p:ext>
            </p:extLst>
          </p:nvPr>
        </p:nvGraphicFramePr>
        <p:xfrm>
          <a:off x="673768" y="4004181"/>
          <a:ext cx="5200875" cy="2559440"/>
        </p:xfrm>
        <a:graphic>
          <a:graphicData uri="http://schemas.openxmlformats.org/drawingml/2006/table">
            <a:tbl>
              <a:tblPr firstRow="1" bandRow="1">
                <a:noFill/>
                <a:tableStyleId>{BF4DFCBA-257B-410C-A8EE-B23D9F96F7EF}</a:tableStyleId>
              </a:tblPr>
              <a:tblGrid>
                <a:gridCol w="259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Количество ДКА в анамнезе</a:t>
                      </a: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1.917134</a:t>
                      </a:r>
                      <a:endParaRPr sz="18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Суточная доза инсулина</a:t>
                      </a: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0.290616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ВЕ при поступлении</a:t>
                      </a: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0.144938</a:t>
                      </a: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Длительность СД (лет)</a:t>
                      </a: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0.089690</a:t>
                      </a:r>
                      <a:endParaRPr b="1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Глюкоза при поступлении </a:t>
                      </a:r>
                      <a:endParaRPr sz="1400" b="1" u="none" strike="noStrike" cap="none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strike="noStrike" cap="none" dirty="0">
                          <a:latin typeface="Inconsolata SemiBold"/>
                          <a:ea typeface="Inconsolata SemiBold"/>
                          <a:cs typeface="Inconsolata SemiBold"/>
                          <a:sym typeface="Inconsolata SemiBold"/>
                        </a:rPr>
                        <a:t>0.063292</a:t>
                      </a:r>
                      <a:endParaRPr sz="1400" b="1" u="none" strike="noStrike" cap="none" dirty="0">
                        <a:latin typeface="Inconsolata SemiBold"/>
                        <a:ea typeface="Inconsolata SemiBold"/>
                        <a:cs typeface="Inconsolata SemiBold"/>
                        <a:sym typeface="Inconsolata SemiBol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9" name="Google Shape;149;p11"/>
          <p:cNvSpPr txBox="1"/>
          <p:nvPr/>
        </p:nvSpPr>
        <p:spPr>
          <a:xfrm>
            <a:off x="6308600" y="3481165"/>
            <a:ext cx="45939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ru-RU" sz="1800" b="1" i="0" u="none" strike="noStrike" cap="none">
                <a:solidFill>
                  <a:schemeClr val="dk1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Топ 5 признаков по важности SHAP</a:t>
            </a:r>
            <a:endParaRPr sz="1800" b="1" i="0" u="none" strike="noStrike" cap="none">
              <a:solidFill>
                <a:schemeClr val="dk1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Основные результаты:</a:t>
            </a:r>
            <a:endParaRPr>
              <a:highlight>
                <a:srgbClr val="FFFF00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5" name="Google Shape;155;p12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4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Выводы:</a:t>
            </a:r>
            <a:endParaRPr sz="24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3429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Inconsolata SemiBold"/>
              <a:buChar char="•"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Получен и полностью обработан клинический датасет.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3429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Inconsolata SemiBold"/>
              <a:buChar char="•"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Разработаны и обучены ML-модели по двум стратегиям: с учетом анамнеза ДКА и без.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3429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Inconsolata SemiBold"/>
              <a:buChar char="•"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Методом SHAP выявлены и ранжированы ключевые факторы риска рецидива.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Ожидаемые результаты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2" name="Google Shape;162;p13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Получение и анализ расширенной базы данных для выявления ключевых для российской популяции предикторов ДКА.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Разработка интерпретируемой ML-модели, превосходящей </a:t>
            </a:r>
            <a:r>
              <a:rPr lang="ru-RU" sz="2200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baseline</a:t>
            </a: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и валидированной на новых данных.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Создание рабочего прототипа системы (API + интерфейс) для поддержки врачебных решений в реальном времени.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Заключение 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9" name="Google Shape;169;p14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  <p:sp>
        <p:nvSpPr>
          <p:cNvPr id="170" name="Google Shape;170;p14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В рамках первого семестра была сформулирована цель исследования, поставлены задачи и выполнен ключевой подготовительный этап: произведён сбор и обработка клинического датасета, а также обучены и протестированы базовые модели машинного обучения для прогнозирования рецидива ДКА.</a:t>
            </a: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Наследующем этапе работы планируется расширение и обогащение датасета с целью повышения точности прогноза, а также разработка функционального прототипа системы поддержки врачебных решений в реальном времени.</a:t>
            </a:r>
            <a:br>
              <a:rPr lang="ru-RU" sz="2200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</a:br>
            <a:endParaRPr sz="2200" b="1" dirty="0">
              <a:highlight>
                <a:srgbClr val="FFFF00"/>
              </a:highlight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F66118B-974E-F8BB-E8F2-C4CB76B9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>
            <a:extLst>
              <a:ext uri="{FF2B5EF4-FFF2-40B4-BE49-F238E27FC236}">
                <a16:creationId xmlns:a16="http://schemas.microsoft.com/office/drawing/2014/main" id="{ACE916D8-684E-6A32-E186-60BC1F653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140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 dirty="0">
                <a:latin typeface="Montserrat Black"/>
                <a:ea typeface="Montserrat Black"/>
                <a:cs typeface="Montserrat Black"/>
                <a:sym typeface="Montserrat Black"/>
              </a:rPr>
              <a:t>Степень готовности результатов к публикации</a:t>
            </a:r>
            <a:br>
              <a:rPr lang="ru-RU" dirty="0"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ru-RU" dirty="0"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endParaRPr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9" name="Google Shape;169;p14">
            <a:extLst>
              <a:ext uri="{FF2B5EF4-FFF2-40B4-BE49-F238E27FC236}">
                <a16:creationId xmlns:a16="http://schemas.microsoft.com/office/drawing/2014/main" id="{02417621-25E6-8514-9254-54764CFFB0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sp>
        <p:nvSpPr>
          <p:cNvPr id="170" name="Google Shape;170;p14">
            <a:extLst>
              <a:ext uri="{FF2B5EF4-FFF2-40B4-BE49-F238E27FC236}">
                <a16:creationId xmlns:a16="http://schemas.microsoft.com/office/drawing/2014/main" id="{B2CC0121-E0AC-276B-9830-307631BF6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1531" y="1483129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consolata SemiBold"/>
                <a:ea typeface="Inconsolata SemiBold"/>
                <a:cs typeface="Inconsolata SemiBold"/>
                <a:sym typeface="Inconsolata SemiBold"/>
              </a:rPr>
              <a:t>Полученные результаты демонстрируют прочную основу и потенциал для разработки интерпретируемой модели прогнозирования рецидивов ДКА. С учетом высокой ответственности и специфики медицинских положений для последующей публикации необходимы расширение клинического датасета и получение разрешения от медицинского учреждения.</a:t>
            </a:r>
            <a:endParaRPr b="1" dirty="0">
              <a:highlight>
                <a:srgbClr val="FFFF00"/>
              </a:highlight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63354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>
                <a:latin typeface="Montserrat Black"/>
                <a:ea typeface="Montserrat Black"/>
                <a:cs typeface="Montserrat Black"/>
                <a:sym typeface="Montserrat Black"/>
              </a:rPr>
              <a:t>Литература: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1"/>
          </p:nvPr>
        </p:nvSpPr>
        <p:spPr>
          <a:xfrm>
            <a:off x="421531" y="1157591"/>
            <a:ext cx="11348194" cy="533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1.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Ihalapathirana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A.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Explainable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Artificial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Intelligence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to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predict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clinical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outcomes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type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1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relapsing-remitting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multiple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sclerosis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adult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patients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//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Informatics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Medicine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Unlocked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– 2023. – Т. 42. – С. 101349.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2. Williams D. D.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“All-Data-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on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-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Hand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”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deep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learning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model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to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predict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hospitalization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for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ketoacidosis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youth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with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type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1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: Development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validation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study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//JMIR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– 2023. – Т. 8. – С. e47592.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3.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Eid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W. M.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Predicting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ketoacidosis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pediatric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patients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using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machine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learning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//F1000Research. – 2023. – Т. 12. – С. 611.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4.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Alsamhori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J. F.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The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implication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of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artificial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intelligence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ketoacidosis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//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Avicenna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– 2025. – Т. 2025. – №. 2. – С. 16.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5.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Earnest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A.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Machine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learning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techniques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to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predict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ketoacidosis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HbA1c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above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7%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among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individuals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with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type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1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—A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large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multi-centre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study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Australia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New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Zealand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//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Nutrition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,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Metabolism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Cardiovascular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Diseases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– 2025. – С. 103861.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6.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Subramanian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D.,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Sonabend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R.,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Singh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I. A Machine Learning Model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for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Risk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Stratification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of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Postdiagnosis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Ketoacidosis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Hospitalization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Pediatric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Type 1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: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Retrospective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Study //JMIR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diabetes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– 2024. – Т. 9. – №. 1. – С. e53338.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7.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Fan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T.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et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al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Predicting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the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risk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factors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of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diabetic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ketoacidosis-associated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acute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kidney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injury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: A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machine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learning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approach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using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XGBoost //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Frontiers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in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public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ru-RU" b="1" dirty="0" err="1">
                <a:latin typeface="Inconsolata SemiBold"/>
                <a:ea typeface="Inconsolata SemiBold"/>
                <a:cs typeface="Inconsolata SemiBold"/>
                <a:sym typeface="Inconsolata SemiBold"/>
              </a:rPr>
              <a:t>health</a:t>
            </a:r>
            <a: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  <a:t>. – 2023. – Т. 11. – С. 1087297.</a:t>
            </a: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br>
              <a:rPr lang="ru-RU" b="1" dirty="0">
                <a:latin typeface="Inconsolata SemiBold"/>
                <a:ea typeface="Inconsolata SemiBold"/>
                <a:cs typeface="Inconsolata SemiBold"/>
                <a:sym typeface="Inconsolata SemiBold"/>
              </a:rPr>
            </a:br>
            <a:endParaRPr b="1" dirty="0"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1507</Words>
  <Application>Microsoft Office PowerPoint</Application>
  <PresentationFormat>Широкоэкранный</PresentationFormat>
  <Paragraphs>238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1" baseType="lpstr">
      <vt:lpstr>Inconsolata Black</vt:lpstr>
      <vt:lpstr>Calibri</vt:lpstr>
      <vt:lpstr>Arial</vt:lpstr>
      <vt:lpstr>Golos Text</vt:lpstr>
      <vt:lpstr>Golos Text SemiBold</vt:lpstr>
      <vt:lpstr>Montserrat Black</vt:lpstr>
      <vt:lpstr>Montserrat</vt:lpstr>
      <vt:lpstr>Inconsolata Medium</vt:lpstr>
      <vt:lpstr>Inconsolata</vt:lpstr>
      <vt:lpstr>Inconsolata SemiBold</vt:lpstr>
      <vt:lpstr>Inconsolata ExtraBold</vt:lpstr>
      <vt:lpstr>Тема Office</vt:lpstr>
      <vt:lpstr>Прогнозирование рецидива диабетического кетоацидоза</vt:lpstr>
      <vt:lpstr>Постановка проблемы</vt:lpstr>
      <vt:lpstr>Цель и задачи</vt:lpstr>
      <vt:lpstr>Обзор аналогичных решений/исследований</vt:lpstr>
      <vt:lpstr>Методы и инструменты исследования</vt:lpstr>
      <vt:lpstr>Научная новизна</vt:lpstr>
      <vt:lpstr>Ход решения</vt:lpstr>
      <vt:lpstr>Ход решения</vt:lpstr>
      <vt:lpstr>Ход решения</vt:lpstr>
      <vt:lpstr>Ход решения</vt:lpstr>
      <vt:lpstr>Ход решения</vt:lpstr>
      <vt:lpstr>Ход решения</vt:lpstr>
      <vt:lpstr>Основные результаты:</vt:lpstr>
      <vt:lpstr>Основные результаты:</vt:lpstr>
      <vt:lpstr>Ожидаемые результаты</vt:lpstr>
      <vt:lpstr>Заключение </vt:lpstr>
      <vt:lpstr>Степень готовности результатов к публикации  </vt:lpstr>
      <vt:lpstr>Литература: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Цветкова Екатерина Андреевна</dc:creator>
  <cp:lastModifiedBy>Oleg Sadykhov</cp:lastModifiedBy>
  <cp:revision>9</cp:revision>
  <dcterms:created xsi:type="dcterms:W3CDTF">2025-10-08T10:34:53Z</dcterms:created>
  <dcterms:modified xsi:type="dcterms:W3CDTF">2026-01-15T10:59:26Z</dcterms:modified>
</cp:coreProperties>
</file>